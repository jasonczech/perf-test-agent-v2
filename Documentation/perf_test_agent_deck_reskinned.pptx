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63" r:id="rId5"/>
    <p:sldId id="274" r:id="rId6"/>
    <p:sldId id="272" r:id="rId7"/>
    <p:sldId id="27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52"/>
    <p:restoredTop sz="94610"/>
  </p:normalViewPr>
  <p:slideViewPr>
    <p:cSldViewPr snapToGrid="0" snapToObjects="1">
      <p:cViewPr varScale="1">
        <p:scale>
          <a:sx n="261" d="100"/>
          <a:sy n="261" d="100"/>
        </p:scale>
        <p:origin x="22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0707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F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(semi)Agentic PT Pipeline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9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Performance Testing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009F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Architecture, Pipeline Flow &amp; Phase Diagrams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CQE Performance Engineering &amp; Cybersecurity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 |  March 2026</a:t>
            </a:r>
            <a:endParaRPr lang="en-US" sz="1200" dirty="0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Legacy Agentic Pipeline?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4937760" cy="365760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005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Semi-agentic performance testing for legacy systems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508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Agentic Pipeline is an LLM-powered system that automates the end-to-end performance testing lifecycle for AT&amp;T’s CTx legacy stack — spanning OPUS frontends, Middleware (CSI, BPM, CAS etc.) , and backend systems (BSSe, TLG, </a:t>
            </a:r>
            <a:r>
              <a:rPr lang="en-US" sz="1000" dirty="0" err="1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designed as a human-in-the-loop collaboration, not a fully autonomous agent. A performance test analyst serves as the gatekeeper at every phase — reviewing LLM-generated outputs, approving or modifying plans, and making the final call on go/no-go decisions. The AI handles the repetitive, data-intensive work (context gathering, script generation, real-time monitoring, report assembly); the human provides judgment, institutional knowledge, and accountability.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confidence grows through successive test cycles, the HITL gates can be progressively relaxed — moving from mandatory approval to exception-based review — but the analyst always retains override authority.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deployment: end of Q3 2026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914400"/>
            <a:ext cx="32004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914400"/>
            <a:ext cx="457200" cy="56692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91440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9692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phases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11887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analysis through postmortem, each with HITL gate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669280" y="1572768"/>
            <a:ext cx="32004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0" y="1572768"/>
            <a:ext cx="457200" cy="566928"/>
          </a:xfrm>
          <a:prstGeom prst="rect">
            <a:avLst/>
          </a:prstGeom>
          <a:solidFill>
            <a:srgbClr val="0FAA6C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0" y="1572768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63640" y="16276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as gatekeeper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18470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Reviews, approves, or modifies every phase output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669280" y="2231136"/>
            <a:ext cx="32004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69280" y="2231136"/>
            <a:ext cx="457200" cy="566928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0" y="223113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63640" y="22860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in scope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63640" y="25054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CSI, TLG, BSSe, GDDN, and 17+ more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69280" y="2889504"/>
            <a:ext cx="32004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0" y="2889504"/>
            <a:ext cx="457200" cy="56692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0" y="2889504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29443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GPT-4o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63640" y="31638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+ code generation within AT&amp;T’s Azure tenant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669280" y="3547872"/>
            <a:ext cx="32004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669280" y="3547872"/>
            <a:ext cx="457200" cy="566928"/>
          </a:xfrm>
          <a:prstGeom prst="rect">
            <a:avLst/>
          </a:prstGeom>
          <a:solidFill>
            <a:srgbClr val="0FAA6C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3547872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63640" y="36027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63640" y="38221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from each cycle feed back into future runs via RAG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4-layer stack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architec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868680"/>
            <a:ext cx="548640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0" y="1005840"/>
            <a:ext cx="2834640" cy="7315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172200" y="1078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17220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React + WebSocket + CLI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035040" y="1874520"/>
            <a:ext cx="2834640" cy="7315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172200" y="1947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172200" y="2194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PipelineOrchestrator + 7 BaseAgent subclasses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035040" y="2743200"/>
            <a:ext cx="2834640" cy="7315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172200" y="2816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72200" y="3063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LangChain tool-wrapped clients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035040" y="3611880"/>
            <a:ext cx="2834640" cy="7315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172200" y="3685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Config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72200" y="3931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(15 tables) + YAML manifest (26 refs)</a:t>
            </a:r>
            <a:endParaRPr lang="en-US" sz="9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flow — 7 phases with HITL 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ipeline_flo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777240"/>
            <a:ext cx="5303520" cy="3840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868680"/>
            <a:ext cx="411480" cy="38404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0" y="86868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217920" y="8686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analysis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217920" y="1051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→ RAG → Snowflake → Dynatrace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69280" y="1380744"/>
            <a:ext cx="411480" cy="38404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0" y="1380744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217920" y="13807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planning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17920" y="1563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 + 4 scenario types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669280" y="1892808"/>
            <a:ext cx="411480" cy="384048"/>
          </a:xfrm>
          <a:prstGeom prst="rect">
            <a:avLst/>
          </a:prstGeom>
          <a:solidFill>
            <a:srgbClr val="0FAA6C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189280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217920" y="18928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config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17920" y="2075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 validation + golden config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69280" y="2404872"/>
            <a:ext cx="411480" cy="38404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0" y="240487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0" y="24048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&amp; data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17920" y="25877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VuGen C + JMeter JMX + bulk data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669280" y="2916936"/>
            <a:ext cx="411480" cy="384048"/>
          </a:xfrm>
          <a:prstGeom prst="rect">
            <a:avLst/>
          </a:prstGeom>
          <a:solidFill>
            <a:srgbClr val="E5920A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0" y="29169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217920" y="291693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17920" y="30998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Stress → Endurance → Spike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669280" y="3429000"/>
            <a:ext cx="411480" cy="384048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28" name="Text 25"/>
          <p:cNvSpPr/>
          <p:nvPr/>
        </p:nvSpPr>
        <p:spPr>
          <a:xfrm>
            <a:off x="5669280" y="34290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217920" y="3429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217920" y="36118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analysis + GO/NO-GO verdict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669280" y="3941064"/>
            <a:ext cx="411480" cy="384048"/>
          </a:xfrm>
          <a:prstGeom prst="rect">
            <a:avLst/>
          </a:prstGeom>
          <a:solidFill>
            <a:srgbClr val="0FAA6C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0" y="3941064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217920" y="394106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217920" y="41239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+ RAG feedback loop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"/>
          <p:cNvSpPr/>
          <p:nvPr/>
        </p:nvSpPr>
        <p:spPr>
          <a:xfrm>
            <a:off x="548640" y="14630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  <a:latin typeface="Calibri" pitchFamily="34" charset="0"/>
              </a:rPr>
              <a:t>Current project status — progress, roadblocks &amp; path forward</a:t>
            </a:r>
          </a:p>
        </p:txBody>
      </p:sp>
      <p:sp>
        <p:nvSpPr>
          <p:cNvPr id="100" name="ProgressLabel"/>
          <p:cNvSpPr/>
          <p:nvPr/>
        </p:nvSpPr>
        <p:spPr>
          <a:xfrm>
            <a:off x="548640" y="640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5A6578"/>
                </a:solidFill>
                <a:latin typeface="Calibri" pitchFamily="34" charset="0"/>
              </a:rPr>
              <a:t>COMPONENT READINESS</a:t>
            </a:r>
          </a:p>
        </p:txBody>
      </p:sp>
      <p:sp>
        <p:nvSpPr>
          <p:cNvPr id="110" name="Bar1BG"/>
          <p:cNvSpPr/>
          <p:nvPr/>
        </p:nvSpPr>
        <p:spPr>
          <a:xfrm>
            <a:off x="548640" y="899160"/>
            <a:ext cx="7863840" cy="182880"/>
          </a:xfrm>
          <a:prstGeom prst="roundRect">
            <a:avLst>
              <a:gd name="adj" fmla="val 50000"/>
            </a:avLst>
          </a:prstGeom>
          <a:solidFill>
            <a:srgbClr val="E0E6ED"/>
          </a:solidFill>
          <a:ln>
            <a:noFill/>
          </a:ln>
        </p:spPr>
      </p:sp>
      <p:sp>
        <p:nvSpPr>
          <p:cNvPr id="111" name="Bar1Fill"/>
          <p:cNvSpPr/>
          <p:nvPr/>
        </p:nvSpPr>
        <p:spPr>
          <a:xfrm>
            <a:off x="548640" y="899160"/>
            <a:ext cx="7077456" cy="182880"/>
          </a:xfrm>
          <a:prstGeom prst="roundRect">
            <a:avLst>
              <a:gd name="adj" fmla="val 50000"/>
            </a:avLst>
          </a:prstGeom>
          <a:solidFill>
            <a:srgbClr val="0FAA6C"/>
          </a:solidFill>
          <a:ln>
            <a:noFill/>
          </a:ln>
        </p:spPr>
      </p:sp>
      <p:sp>
        <p:nvSpPr>
          <p:cNvPr id="112" name="Bar1Label"/>
          <p:cNvSpPr/>
          <p:nvPr/>
        </p:nvSpPr>
        <p:spPr>
          <a:xfrm>
            <a:off x="640080" y="8991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HITL Dashboard (React + FastAPI)</a:t>
            </a:r>
          </a:p>
        </p:txBody>
      </p:sp>
      <p:sp>
        <p:nvSpPr>
          <p:cNvPr id="113" name="Bar1Pct"/>
          <p:cNvSpPr/>
          <p:nvPr/>
        </p:nvSpPr>
        <p:spPr>
          <a:xfrm>
            <a:off x="7406640" y="8991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AA6C"/>
                </a:solidFill>
                <a:latin typeface="Calibri" pitchFamily="34" charset="0"/>
              </a:rPr>
              <a:t>90%</a:t>
            </a:r>
          </a:p>
        </p:txBody>
      </p:sp>
      <p:sp>
        <p:nvSpPr>
          <p:cNvPr id="120" name="Bar2BG"/>
          <p:cNvSpPr/>
          <p:nvPr/>
        </p:nvSpPr>
        <p:spPr>
          <a:xfrm>
            <a:off x="548640" y="1143000"/>
            <a:ext cx="7863840" cy="182880"/>
          </a:xfrm>
          <a:prstGeom prst="roundRect">
            <a:avLst>
              <a:gd name="adj" fmla="val 50000"/>
            </a:avLst>
          </a:prstGeom>
          <a:solidFill>
            <a:srgbClr val="E0E6ED"/>
          </a:solidFill>
          <a:ln>
            <a:noFill/>
          </a:ln>
        </p:spPr>
      </p:sp>
      <p:sp>
        <p:nvSpPr>
          <p:cNvPr id="121" name="Bar2Fill"/>
          <p:cNvSpPr/>
          <p:nvPr/>
        </p:nvSpPr>
        <p:spPr>
          <a:xfrm>
            <a:off x="548640" y="1143000"/>
            <a:ext cx="3931920" cy="182880"/>
          </a:xfrm>
          <a:prstGeom prst="roundRect">
            <a:avLst>
              <a:gd name="adj" fmla="val 50000"/>
            </a:avLst>
          </a:prstGeom>
          <a:solidFill>
            <a:srgbClr val="E5920A"/>
          </a:solidFill>
          <a:ln>
            <a:noFill/>
          </a:ln>
        </p:spPr>
      </p:sp>
      <p:sp>
        <p:nvSpPr>
          <p:cNvPr id="122" name="Bar2Label"/>
          <p:cNvSpPr/>
          <p:nvPr/>
        </p:nvSpPr>
        <p:spPr>
          <a:xfrm>
            <a:off x="640080" y="1143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Agent Codebase (LangChain / Azure OpenAI)</a:t>
            </a:r>
          </a:p>
        </p:txBody>
      </p:sp>
      <p:sp>
        <p:nvSpPr>
          <p:cNvPr id="123" name="Bar2Pct"/>
          <p:cNvSpPr/>
          <p:nvPr/>
        </p:nvSpPr>
        <p:spPr>
          <a:xfrm>
            <a:off x="7406640" y="11430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5920A"/>
                </a:solidFill>
                <a:latin typeface="Calibri" pitchFamily="34" charset="0"/>
              </a:rPr>
              <a:t>50%</a:t>
            </a:r>
          </a:p>
        </p:txBody>
      </p:sp>
      <p:sp>
        <p:nvSpPr>
          <p:cNvPr id="130" name="Bar3BG"/>
          <p:cNvSpPr/>
          <p:nvPr/>
        </p:nvSpPr>
        <p:spPr>
          <a:xfrm>
            <a:off x="548640" y="1386840"/>
            <a:ext cx="7863840" cy="182880"/>
          </a:xfrm>
          <a:prstGeom prst="roundRect">
            <a:avLst>
              <a:gd name="adj" fmla="val 50000"/>
            </a:avLst>
          </a:prstGeom>
          <a:solidFill>
            <a:srgbClr val="E0E6ED"/>
          </a:solidFill>
          <a:ln>
            <a:noFill/>
          </a:ln>
        </p:spPr>
      </p:sp>
      <p:sp>
        <p:nvSpPr>
          <p:cNvPr id="131" name="Bar3Fill"/>
          <p:cNvSpPr/>
          <p:nvPr/>
        </p:nvSpPr>
        <p:spPr>
          <a:xfrm>
            <a:off x="548640" y="1386840"/>
            <a:ext cx="393192" cy="182880"/>
          </a:xfrm>
          <a:prstGeom prst="roundRect">
            <a:avLst>
              <a:gd name="adj" fmla="val 50000"/>
            </a:avLst>
          </a:prstGeom>
          <a:solidFill>
            <a:srgbClr val="DC3545"/>
          </a:solidFill>
          <a:ln>
            <a:noFill/>
          </a:ln>
        </p:spPr>
      </p:sp>
      <p:sp>
        <p:nvSpPr>
          <p:cNvPr id="132" name="Bar3Label"/>
          <p:cNvSpPr/>
          <p:nvPr/>
        </p:nvSpPr>
        <p:spPr>
          <a:xfrm>
            <a:off x="640080" y="13868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6578"/>
                </a:solidFill>
                <a:latin typeface="Calibri" pitchFamily="34" charset="0"/>
              </a:rPr>
              <a:t>Tools / Environment Integrations</a:t>
            </a:r>
          </a:p>
        </p:txBody>
      </p:sp>
      <p:sp>
        <p:nvSpPr>
          <p:cNvPr id="133" name="Bar3Pct"/>
          <p:cNvSpPr/>
          <p:nvPr/>
        </p:nvSpPr>
        <p:spPr>
          <a:xfrm>
            <a:off x="7406640" y="1386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C3545"/>
                </a:solidFill>
                <a:latin typeface="Calibri" pitchFamily="34" charset="0"/>
              </a:rPr>
              <a:t>5%</a:t>
            </a:r>
          </a:p>
        </p:txBody>
      </p:sp>
      <p:sp>
        <p:nvSpPr>
          <p:cNvPr id="200" name="LeftHeaderBG"/>
          <p:cNvSpPr/>
          <p:nvPr/>
        </p:nvSpPr>
        <p:spPr>
          <a:xfrm>
            <a:off x="548640" y="1737360"/>
            <a:ext cx="3931920" cy="274320"/>
          </a:xfrm>
          <a:prstGeom prst="rect">
            <a:avLst/>
          </a:prstGeom>
          <a:solidFill>
            <a:srgbClr val="DC3545"/>
          </a:solidFill>
          <a:ln>
            <a:noFill/>
          </a:ln>
        </p:spPr>
      </p:sp>
      <p:sp>
        <p:nvSpPr>
          <p:cNvPr id="201" name="LeftHeaderTxt"/>
          <p:cNvSpPr/>
          <p:nvPr/>
        </p:nvSpPr>
        <p:spPr>
          <a:xfrm>
            <a:off x="640080" y="1737360"/>
            <a:ext cx="374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Active Roadblocks</a:t>
            </a:r>
          </a:p>
        </p:txBody>
      </p:sp>
      <p:sp>
        <p:nvSpPr>
          <p:cNvPr id="202" name="LeftBodyBG"/>
          <p:cNvSpPr/>
          <p:nvPr/>
        </p:nvSpPr>
        <p:spPr>
          <a:xfrm>
            <a:off x="548640" y="2011680"/>
            <a:ext cx="3931920" cy="2560320"/>
          </a:xfrm>
          <a:prstGeom prst="rect">
            <a:avLst/>
          </a:prstGeom>
          <a:solidFill>
            <a:srgbClr val="FEF0F1"/>
          </a:solidFill>
          <a:ln>
            <a:solidFill>
              <a:srgbClr val="F5C1C6"/>
            </a:solidFill>
          </a:ln>
        </p:spPr>
      </p:sp>
      <p:sp>
        <p:nvSpPr>
          <p:cNvPr id="203" name="LeftBodyTxt"/>
          <p:cNvSpPr/>
          <p:nvPr/>
        </p:nvSpPr>
        <p:spPr>
          <a:xfrm>
            <a:off x="640080" y="2057400"/>
            <a:ext cx="3748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DC3545"/>
                </a:solidFill>
                <a:latin typeface="Calibri" pitchFamily="34" charset="0"/>
              </a:rPr>
              <a:t>MS Graph API not exposed internally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No MCP path to SharePoint, tWiki, or Teams artifacts. AskATT API lacks access to these systems. No timeline for exposure.</a:t>
            </a:r>
          </a:p>
          <a:p>
            <a:pPr marL="0" indent="0">
              <a:buNone/>
            </a:pPr>
            <a:r>
              <a:rPr lang="en-US" sz="800" i="1" dirty="0">
                <a:solidFill>
                  <a:srgbClr val="0568AE"/>
                </a:solidFill>
                <a:latin typeface="Calibri" pitchFamily="34" charset="0"/>
              </a:rPr>
              <a:t>Workaround: Analyst pastes docs into Dashboard context artifacts.</a:t>
            </a:r>
          </a:p>
          <a:p>
            <a:pPr marL="0" indent="0">
              <a:buNone/>
            </a:pPr>
            <a:endParaRPr lang="en-US" sz="400" dirty="0"/>
          </a:p>
          <a:p>
            <a:pPr marL="0" indent="0">
              <a:buNone/>
            </a:pPr>
            <a:r>
              <a:rPr lang="en-US" sz="850" b="1" dirty="0">
                <a:solidFill>
                  <a:srgbClr val="DC3545"/>
                </a:solidFill>
                <a:latin typeface="Calibri" pitchFamily="34" charset="0"/>
              </a:rPr>
              <a:t>Jira </a:t>
            </a:r>
            <a:r>
              <a:rPr lang="en-US" sz="850" b="1" dirty="0" err="1">
                <a:solidFill>
                  <a:srgbClr val="DC3545"/>
                </a:solidFill>
                <a:latin typeface="Calibri" pitchFamily="34" charset="0"/>
              </a:rPr>
              <a:t>iTrack</a:t>
            </a:r>
            <a:r>
              <a:rPr lang="en-US" sz="850" b="1" dirty="0">
                <a:solidFill>
                  <a:srgbClr val="DC3545"/>
                </a:solidFill>
                <a:latin typeface="Calibri" pitchFamily="34" charset="0"/>
              </a:rPr>
              <a:t> API — read-only access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Agents can pull existing stories/defects for analysis but cannot create or update tickets programmatically.</a:t>
            </a:r>
          </a:p>
          <a:p>
            <a:pPr marL="0" indent="0">
              <a:buNone/>
            </a:pPr>
            <a:endParaRPr lang="en-US" sz="400" dirty="0"/>
          </a:p>
          <a:p>
            <a:pPr marL="0" indent="0">
              <a:buNone/>
            </a:pPr>
            <a:r>
              <a:rPr lang="en-US" sz="850" b="1" dirty="0">
                <a:solidFill>
                  <a:srgbClr val="DC3545"/>
                </a:solidFill>
                <a:latin typeface="Calibri" pitchFamily="34" charset="0"/>
              </a:rPr>
              <a:t>LRE APIs not currently exposed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LRE 26.3 upgrade (planned H2 2026) should enable MCP connectivity, subject to governance approval.</a:t>
            </a:r>
          </a:p>
          <a:p>
            <a:pPr marL="0" indent="0">
              <a:buNone/>
            </a:pPr>
            <a:endParaRPr lang="en-US" sz="400" dirty="0"/>
          </a:p>
          <a:p>
            <a:pPr marL="0" indent="0">
              <a:buNone/>
            </a:pPr>
            <a:r>
              <a:rPr lang="en-US" sz="850" b="1" dirty="0">
                <a:solidFill>
                  <a:srgbClr val="DC3545"/>
                </a:solidFill>
                <a:latin typeface="Calibri" pitchFamily="34" charset="0"/>
              </a:rPr>
              <a:t>AI Governance approval pending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Full agentic workflow must be reviewed and approved before production deployment.</a:t>
            </a:r>
          </a:p>
        </p:txBody>
      </p:sp>
      <p:sp>
        <p:nvSpPr>
          <p:cNvPr id="300" name="RightHeaderBG"/>
          <p:cNvSpPr/>
          <p:nvPr/>
        </p:nvSpPr>
        <p:spPr>
          <a:xfrm>
            <a:off x="4663440" y="1737360"/>
            <a:ext cx="3749040" cy="274320"/>
          </a:xfrm>
          <a:prstGeom prst="rect">
            <a:avLst/>
          </a:prstGeom>
          <a:solidFill>
            <a:srgbClr val="0568AE"/>
          </a:solidFill>
          <a:ln>
            <a:noFill/>
          </a:ln>
        </p:spPr>
      </p:sp>
      <p:sp>
        <p:nvSpPr>
          <p:cNvPr id="301" name="RightHeaderTxt"/>
          <p:cNvSpPr/>
          <p:nvPr/>
        </p:nvSpPr>
        <p:spPr>
          <a:xfrm>
            <a:off x="4754880" y="1737360"/>
            <a:ext cx="35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Feasible — Not Yet Integrated</a:t>
            </a:r>
          </a:p>
        </p:txBody>
      </p:sp>
      <p:sp>
        <p:nvSpPr>
          <p:cNvPr id="302" name="RightBodyBG"/>
          <p:cNvSpPr/>
          <p:nvPr/>
        </p:nvSpPr>
        <p:spPr>
          <a:xfrm>
            <a:off x="4663440" y="2011680"/>
            <a:ext cx="3749040" cy="2560320"/>
          </a:xfrm>
          <a:prstGeom prst="rect">
            <a:avLst/>
          </a:prstGeom>
          <a:solidFill>
            <a:srgbClr val="E5F6FC"/>
          </a:solidFill>
          <a:ln>
            <a:solidFill>
              <a:srgbClr val="009FDB">
                <a:alpha val="40000"/>
              </a:srgbClr>
            </a:solidFill>
          </a:ln>
        </p:spPr>
      </p:sp>
      <p:sp>
        <p:nvSpPr>
          <p:cNvPr id="303" name="RightBodyTxt"/>
          <p:cNvSpPr/>
          <p:nvPr/>
        </p:nvSpPr>
        <p:spPr>
          <a:xfrm>
            <a:off x="4754880" y="2057400"/>
            <a:ext cx="3565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APIs are accessible or proven; not yet wired into the agent pipeline:</a:t>
            </a:r>
          </a:p>
          <a:p>
            <a:pPr marL="0" indent="0">
              <a:buNone/>
            </a:pPr>
            <a:endParaRPr lang="en-US" sz="400" dirty="0"/>
          </a:p>
          <a:p>
            <a:pPr marL="0" indent="0">
              <a:buNone/>
            </a:pPr>
            <a:r>
              <a:rPr lang="en-US" sz="850" b="1" dirty="0">
                <a:solidFill>
                  <a:srgbClr val="0568AE"/>
                </a:solidFill>
                <a:latin typeface="Calibri" pitchFamily="34" charset="0"/>
              </a:rPr>
              <a:t>Azure OpenAI (GPT-4o)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Core LLM reasoning engine. AT&amp;T Azure tenant available.</a:t>
            </a:r>
          </a:p>
          <a:p>
            <a:pPr marL="0" indent="0">
              <a:buNone/>
            </a:pPr>
            <a:r>
              <a:rPr lang="en-US" sz="850" b="1" dirty="0">
                <a:solidFill>
                  <a:srgbClr val="0568AE"/>
                </a:solidFill>
                <a:latin typeface="Calibri" pitchFamily="34" charset="0"/>
              </a:rPr>
              <a:t>Snowflake Data Warehouse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Baselines, golden configs, execution results, postmortem archival.</a:t>
            </a:r>
          </a:p>
          <a:p>
            <a:pPr marL="0" indent="0">
              <a:buNone/>
            </a:pPr>
            <a:r>
              <a:rPr lang="en-US" sz="850" b="1" dirty="0">
                <a:solidFill>
                  <a:srgbClr val="0568AE"/>
                </a:solidFill>
                <a:latin typeface="Calibri" pitchFamily="34" charset="0"/>
              </a:rPr>
              <a:t>Dynatrace + Prometheus + ELK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Real-time monitoring, service topology, log/resource analysis.</a:t>
            </a:r>
          </a:p>
          <a:p>
            <a:pPr marL="0" indent="0">
              <a:buNone/>
            </a:pPr>
            <a:r>
              <a:rPr lang="en-US" sz="850" b="1" dirty="0">
                <a:solidFill>
                  <a:srgbClr val="0568AE"/>
                </a:solidFill>
                <a:latin typeface="Calibri" pitchFamily="34" charset="0"/>
              </a:rPr>
              <a:t>Jenkins (Config Checker + JMeter trigger)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</a:rPr>
              <a:t>Automated daily drift checks and test execution orchestration.</a:t>
            </a:r>
          </a:p>
          <a:p>
            <a:pPr marL="0" indent="0">
              <a:buNone/>
            </a:pPr>
            <a:endParaRPr lang="en-US" sz="400" dirty="0"/>
          </a:p>
          <a:p>
            <a:pPr marL="0" indent="0">
              <a:buNone/>
            </a:pPr>
            <a:r>
              <a:rPr lang="en-US" sz="800" i="1" dirty="0">
                <a:solidFill>
                  <a:srgbClr val="5A6578"/>
                </a:solidFill>
                <a:latin typeface="Calibri" pitchFamily="34" charset="0"/>
              </a:rPr>
              <a:t>Primary bottleneck is tool/environment integration — the codebase and dashboard are ahead of the connectivity layer.</a:t>
            </a:r>
          </a:p>
        </p:txBody>
      </p:sp>
      <p:sp>
        <p:nvSpPr>
          <p:cNvPr id="4" name="BottomBar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matrix — API, infrastructure &amp; governance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7443216" cy="259384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Snow-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flake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Dyna-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Jenkins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Prome-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ELK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Share-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Solace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Gov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Story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Plan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Env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Scripts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 Exec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 Results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 Postmort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3520440"/>
            <a:ext cx="8686800" cy="32004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91C1C"/>
                </a:solidFill>
              </a:rPr>
              <a:t> C </a:t>
            </a:r>
            <a:r>
              <a:rPr lang="en-US" sz="800" dirty="0">
                <a:solidFill>
                  <a:srgbClr val="5A6578"/>
                </a:solidFill>
              </a:rPr>
              <a:t> Critical path   </a:t>
            </a:r>
            <a:r>
              <a:rPr lang="en-US" sz="900" b="1" dirty="0">
                <a:solidFill>
                  <a:srgbClr val="0369A1"/>
                </a:solidFill>
              </a:rPr>
              <a:t> R </a:t>
            </a:r>
            <a:r>
              <a:rPr lang="en-US" sz="800" dirty="0">
                <a:solidFill>
                  <a:srgbClr val="5A6578"/>
                </a:solidFill>
              </a:rPr>
              <a:t> Required   </a:t>
            </a:r>
            <a:r>
              <a:rPr lang="en-US" sz="900" b="1" dirty="0">
                <a:solidFill>
                  <a:srgbClr val="92400E"/>
                </a:solidFill>
              </a:rPr>
              <a:t> O </a:t>
            </a:r>
            <a:r>
              <a:rPr lang="en-US" sz="800" dirty="0">
                <a:solidFill>
                  <a:srgbClr val="5A6578"/>
                </a:solidFill>
              </a:rPr>
              <a:t> Optional / conditional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5760" y="397764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3A5C"/>
                </a:solidFill>
              </a:rPr>
              <a:t>Phase 5 is the dependency bottleneck </a:t>
            </a:r>
            <a:r>
              <a:rPr lang="en-US" sz="900" dirty="0">
                <a:solidFill>
                  <a:srgbClr val="5A6578"/>
                </a:solidFill>
              </a:rPr>
              <a:t>— 6 critical-path deps. </a:t>
            </a:r>
            <a:r>
              <a:rPr lang="en-US" sz="900" b="1" dirty="0">
                <a:solidFill>
                  <a:srgbClr val="1B3A5C"/>
                </a:solidFill>
              </a:rPr>
              <a:t>RAG write access is Phase 7 only. </a:t>
            </a:r>
            <a:r>
              <a:rPr lang="en-US" sz="900" dirty="0">
                <a:solidFill>
                  <a:srgbClr val="5A6578"/>
                </a:solidFill>
              </a:rPr>
              <a:t>Phase 3 owns infra validation (AKS, App GW, Solace). </a:t>
            </a:r>
            <a:r>
              <a:rPr lang="en-US" sz="900" b="1" dirty="0">
                <a:solidFill>
                  <a:srgbClr val="1B3A5C"/>
                </a:solidFill>
              </a:rPr>
              <a:t>CSTEM coordination </a:t>
            </a:r>
            <a:r>
              <a:rPr lang="en-US" sz="900" dirty="0">
                <a:solidFill>
                  <a:srgbClr val="5A6578"/>
                </a:solidFill>
              </a:rPr>
              <a:t>is a human dependency — often the longest wall-clock delay.</a:t>
            </a:r>
            <a:endParaRPr lang="en-US" sz="9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9F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Individual Phase Details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828800" cy="0"/>
          </a:xfrm>
          <a:prstGeom prst="line">
            <a:avLst/>
          </a:prstGeom>
          <a:noFill/>
          <a:ln w="25400">
            <a:solidFill>
              <a:srgbClr val="009F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deployment: end of Q3 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CTx CQE Performance Engineering &amp; Cybersecurity
</a:t>
            </a:r>
            <a:r>
              <a:rPr lang="en-US" sz="1200" b="1" dirty="0">
                <a:solidFill>
                  <a:srgbClr val="009FDB"/>
                </a:solidFill>
              </a:rPr>
              <a:t>AT&amp;T</a:t>
            </a:r>
            <a:endParaRPr lang="en-US" sz="1200" dirty="0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</a:rPr>
              <a:t>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Story analysis: ReAct loop and data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1_reac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914400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0" y="9509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fetch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11338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/api/2/issue/{key} with renderedFields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623560" y="1481328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60720" y="151790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search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60720" y="170078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Search, semantic ranking, 4K char truncation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623560" y="2048256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08483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incidents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60720" y="22677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ServiceNow-filtered search for degradation history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23560" y="2615184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760720" y="265176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760720" y="28346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10-run rolling avg + trend detection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23560" y="3182112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760720" y="321868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Dynatrace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4015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topology + 24hr p50/p90/p95 metrics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623560" y="3749040"/>
            <a:ext cx="3200400" cy="47548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760720" y="378561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synthesis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760720" y="39684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TestCase objects with SLA, risk, harness, data reqs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Test planning: TestPlan output structure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2_pla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914400"/>
            <a:ext cx="3200400" cy="65836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0" y="96926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60720" y="12070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VUsers = TPS × (RT + think + pacing). Mix sums to 100%.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23560" y="1691640"/>
            <a:ext cx="3200400" cy="65836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60720" y="17465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760720" y="19842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(30m) / STRESS / ENDURANCE (1–4hr) / SPIKE (3×)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23560" y="2468880"/>
            <a:ext cx="3200400" cy="65836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52374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spec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60720" y="27614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namespaces, replicas, DB connections, MQ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23560" y="3246120"/>
            <a:ext cx="3200400" cy="65836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760720" y="3300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760720" y="35387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Mandatory: TLG connection pool. Per-system risks.</a:t>
            </a:r>
            <a:endParaRPr lang="en-US" sz="9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Environment config: validation and golden config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3_env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914400"/>
            <a:ext cx="3200400" cy="822960"/>
          </a:xfrm>
          <a:prstGeom prst="rect">
            <a:avLst/>
          </a:prstGeom>
          <a:solidFill>
            <a:srgbClr val="FDE8E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0" y="96926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QC detection rule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60720" y="12070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9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configs must point to PERF, not QC. Any qc2/qc3/QC3QM/qc-vpn pattern = CRITICAL mismatch.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23560" y="1920240"/>
            <a:ext cx="3200400" cy="402336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60720" y="19568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858000" y="19568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entries, 22 apps, multi-lab support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623560" y="2414016"/>
            <a:ext cx="3200400" cy="402336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450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858000" y="24505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AKS, App Gateway, Amdocs, Solace, HTTP health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23560" y="2907792"/>
            <a:ext cx="3200400" cy="402336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760720" y="294436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config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858000" y="29443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Snowflake GOLDEN_CONFIGS if all pass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23560" y="3401568"/>
            <a:ext cx="3200400" cy="402336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760720" y="34381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checks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858000" y="3438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cron 06:00 UTC, daily after golden config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623560" y="3895344"/>
            <a:ext cx="3200400" cy="402336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760720" y="3931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858000" y="39319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ALERT_ONLY → SUGGEST_FIX → AUTO_REMEDIATE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Script generation, validation &amp; data provisioning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4_scrip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868680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0" y="9052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VuGen 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11064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Action.c, globals.h, vuser_init.c, vuser_end.c with correlation + transactions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623560" y="1527048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60720" y="15636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JMeter JMX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60720" y="1764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ThreadGroup with ${__P()} properties, HTTPSamplerProxy, CSV Data Set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623560" y="2185416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2219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60720" y="2423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+ structure check per harness (XML elements / C functions)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23560" y="2843784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760720" y="28803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provisioning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760720" y="3081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Insert / API / Amdocs Tools / Manual. 100/batch rate limit.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23560" y="3502152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760720" y="35387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7398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reasons about what to generate; helper functions build the code.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— Execution sequence with real-time monitoring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5_exe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86868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23560" y="868680"/>
            <a:ext cx="54864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90525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06440" y="110642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golden config. Drift = HALT.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23560" y="146304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23560" y="1463040"/>
            <a:ext cx="54864" cy="502920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13" name="Text 10"/>
          <p:cNvSpPr/>
          <p:nvPr/>
        </p:nvSpPr>
        <p:spPr>
          <a:xfrm>
            <a:off x="5806440" y="149961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(30 min)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06440" y="17007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p90 met, error &lt;1%. Stepped ramp.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623560" y="205740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23560" y="2057400"/>
            <a:ext cx="54864" cy="502920"/>
          </a:xfrm>
          <a:prstGeom prst="rect">
            <a:avLst/>
          </a:prstGeom>
          <a:solidFill>
            <a:srgbClr val="0568AE"/>
          </a:solidFill>
          <a:ln/>
        </p:spPr>
      </p:sp>
      <p:sp>
        <p:nvSpPr>
          <p:cNvPr id="17" name="Text 14"/>
          <p:cNvSpPr/>
          <p:nvPr/>
        </p:nvSpPr>
        <p:spPr>
          <a:xfrm>
            <a:off x="5806440" y="209397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06440" y="229514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Point + Breakpoint. Gap = headroom.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23560" y="265176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623560" y="2651760"/>
            <a:ext cx="54864" cy="502920"/>
          </a:xfrm>
          <a:prstGeom prst="rect">
            <a:avLst/>
          </a:prstGeom>
          <a:solidFill>
            <a:srgbClr val="E5920A"/>
          </a:solidFill>
          <a:ln/>
        </p:spPr>
      </p:sp>
      <p:sp>
        <p:nvSpPr>
          <p:cNvPr id="21" name="Text 18"/>
          <p:cNvSpPr/>
          <p:nvPr/>
        </p:nvSpPr>
        <p:spPr>
          <a:xfrm>
            <a:off x="5806440" y="268833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06440" y="288950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hr. Memory, MQ depth, p90 drift, GC.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623560" y="324612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623560" y="3246120"/>
            <a:ext cx="54864" cy="50292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25" name="Text 22"/>
          <p:cNvSpPr/>
          <p:nvPr/>
        </p:nvSpPr>
        <p:spPr>
          <a:xfrm>
            <a:off x="5806440" y="328269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806440" y="34838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burst if AKS. Scale-out &lt;2min.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623560" y="3840480"/>
            <a:ext cx="3200400" cy="502920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623560" y="3840480"/>
            <a:ext cx="54864" cy="502920"/>
          </a:xfrm>
          <a:prstGeom prst="rect">
            <a:avLst/>
          </a:prstGeom>
          <a:solidFill>
            <a:srgbClr val="0FAA6C"/>
          </a:solidFill>
          <a:ln/>
        </p:spPr>
      </p:sp>
      <p:sp>
        <p:nvSpPr>
          <p:cNvPr id="29" name="Text 26"/>
          <p:cNvSpPr/>
          <p:nvPr/>
        </p:nvSpPr>
        <p:spPr>
          <a:xfrm>
            <a:off x="5806440" y="387705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806440" y="407822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Dynatrace + Prometheus + ELK every 60s.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— Results analysis: framework and verdict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6_resul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914400"/>
            <a:ext cx="960120" cy="640080"/>
          </a:xfrm>
          <a:prstGeom prst="rect">
            <a:avLst/>
          </a:prstGeom>
          <a:solidFill>
            <a:srgbClr val="E1F5E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623560" y="93268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A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623560" y="12618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SLAs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&gt;20% head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6720840" y="914400"/>
            <a:ext cx="1051560" cy="640080"/>
          </a:xfrm>
          <a:prstGeom prst="rect">
            <a:avLst/>
          </a:prstGeom>
          <a:solidFill>
            <a:srgbClr val="FEF3C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720840" y="932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9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20840" y="12618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7909560" y="914400"/>
            <a:ext cx="960120" cy="640080"/>
          </a:xfrm>
          <a:prstGeom prst="rect">
            <a:avLst/>
          </a:prstGeom>
          <a:solidFill>
            <a:srgbClr val="FDE8E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909560" y="93268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NO-GO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12618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9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79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&lt;10% head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576072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SLA compliance — deviation per transaction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760720" y="20756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Baseline comparison — IMPROVING / STABLE / DEGRADING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760720" y="23682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Peak/breakpoint — headroom margin calculation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760720" y="26609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Stability drift — p90, memory, MQ, GC trends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760720" y="29535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Anomaly summary — sorted, mapped to Jira defects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60720" y="33375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Word → SharePoint → Snowflake → Jira defects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F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 — Postmortem analysis and feedback loop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6" name="Image 0" descr="/home/claude/diagrams/phase7_postmorte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22960"/>
            <a:ext cx="512064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23560" y="868680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0" y="9052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cataloging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11064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categories: env, data, tooling, process, comm, technical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623560" y="1527048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60720" y="15636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60720" y="1764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 target &gt;80%. Hours lost per category.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623560" y="2185416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2219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60720" y="2423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Structured: title, context, lesson, recommendation, tags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23560" y="2843784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760720" y="28803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760720" y="3081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RAG for recurring issues across prior cycles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623560" y="3502152"/>
            <a:ext cx="3200400" cy="566928"/>
          </a:xfrm>
          <a:prstGeom prst="rect">
            <a:avLst/>
          </a:prstGeom>
          <a:solidFill>
            <a:srgbClr val="F0F3F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760720" y="35387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6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archival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7398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(structured) + RAG (searchable). Closes the loop.</a:t>
            </a:r>
            <a:endParaRPr lang="en-US" sz="800" dirty="0"/>
          </a:p>
        </p:txBody>
      </p:sp>
      <p:sp>
        <p:nvSpPr>
          <p:cNvPr id="903" name="ATTTopLine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" name="ATTFooter"/>
          <p:cNvSpPr/>
          <p:nvPr/>
        </p:nvSpPr>
        <p:spPr>
          <a:xfrm>
            <a:off x="502920" y="484632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Agentic Workflow for Performance Engineering / March 2026 / © 2026 AT&amp;T Intellectual Property - AT&amp;T Proprietary (Internal Use Only)</a:t>
            </a:r>
          </a:p>
        </p:txBody>
      </p:sp>
      <p:pic>
        <p:nvPicPr>
          <p:cNvPr id="901" name="ATTGlob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709160"/>
            <a:ext cx="777240" cy="384048"/>
          </a:xfrm>
          <a:prstGeom prst="rect">
            <a:avLst/>
          </a:prstGeom>
        </p:spPr>
      </p:pic>
      <p:sp>
        <p:nvSpPr>
          <p:cNvPr id="902" name="ATTPageNum"/>
          <p:cNvSpPr/>
          <p:nvPr/>
        </p:nvSpPr>
        <p:spPr>
          <a:xfrm>
            <a:off x="182880" y="4846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67676"/>
                </a:solidFill>
                <a:latin typeface="Calibri" pitchFamily="34" charset="0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1755</Words>
  <Application>Microsoft Macintosh PowerPoint</Application>
  <PresentationFormat>On-screen Show (16:9)</PresentationFormat>
  <Paragraphs>291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Legacy Agentic Pipeline v2.0 — Agentic HITL Pipeline</dc:title>
  <dc:subject>PptxGenJS Presentation</dc:subject>
  <dc:creator>CTx CQE Performance Engineering</dc:creator>
  <cp:lastModifiedBy>JMC Atlanta</cp:lastModifiedBy>
  <cp:revision>5</cp:revision>
  <dcterms:created xsi:type="dcterms:W3CDTF">2026-03-25T22:14:17Z</dcterms:created>
  <dcterms:modified xsi:type="dcterms:W3CDTF">2026-03-26T22:46:50Z</dcterms:modified>
</cp:coreProperties>
</file>