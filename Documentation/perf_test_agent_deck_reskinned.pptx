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40"/>
    <p:restoredTop sz="94610"/>
  </p:normalViewPr>
  <p:slideViewPr>
    <p:cSldViewPr snapToGrid="0" snapToObjects="1">
      <p:cViewPr varScale="1">
        <p:scale>
          <a:sx n="360" d="100"/>
          <a:sy n="360" d="100"/>
        </p:scale>
        <p:origin x="17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70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Agentic Pipeline v2.0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9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Performance Testing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25400">
            <a:solidFill>
              <a:srgbClr val="009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Pipeline Flow &amp; Phase Diagrams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CQE Performance Engineering &amp; Cybersecurity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 |  March 2026</a:t>
            </a:r>
            <a:endParaRPr lang="en-US" sz="1200" dirty="0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Legacy Agentic Pipeline?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4937760" cy="365760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Semi-agentic performance testing for legacy telecom systems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Agentic Pipeline is an LLM-powered system that automates the end-to-end performance testing lifecycle for AT&amp;T’s CTx legacy telecom stack — spanning Salesforce/Mulesoft frontends, Azure AKS microservices, and Amdocs backends (BSSe, TLG, OMS).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designed as a human-in-the-loop collaboration, not a fully autonomous agent. A performance test analyst serves as the gatekeeper at every phase — reviewing LLM-generated outputs, approving or modifying plans, and making the final call on go/no-go decisions. The AI handles the repetitive, data-intensive work (context gathering, script generation, real-time monitoring, report assembly); the human provides judgment, institutional knowledge, and accountability.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confidence grows through successive test cycles, the HITL gates can be progressively relaxed — moving from mandatory approval to exception-based review — but the analyst always retains override authority.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deployment: end of Q3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914400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914400"/>
            <a:ext cx="457200" cy="56692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914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9692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phases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1887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analysis through postmortem, each with HITL gate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0" y="1572768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572768"/>
            <a:ext cx="457200" cy="566928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5727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16276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as gatekeeper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approves, or modifies every phase output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0" y="2231136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2231136"/>
            <a:ext cx="457200" cy="56692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22311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in scope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5054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OPUS, CSI, TLG, BSSe, GDDN, and 17 more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69280" y="2889504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2889504"/>
            <a:ext cx="457200" cy="56692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28895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163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code generation within AT&amp;T’s Azure tenant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9280" y="3547872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3547872"/>
            <a:ext cx="457200" cy="566928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35478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3602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822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each cycle feed back into future runs via RAG</a:t>
            </a:r>
            <a:endParaRPr lang="en-US" sz="8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868680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868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04241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stack, technology choices, LLM task routing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07592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0759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3075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1481328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execution with HITL gates and PipelineState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1746504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74650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17465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Story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20240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RAG + Snowflake + Dynatrace context gathering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185416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854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1854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Test planning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359152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model, scenarios, environment spec, risk register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624328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24328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2624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Env config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2798064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validation, golden config, QC detection, drift checks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0632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3063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Scripts &amp;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323697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VuGen C + JMeter JMX generation, validation, provisioning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502152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502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3502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Execution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3675888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stress, endurance, spike with real-time monitoring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941064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94106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" y="39410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6–7 — Results &amp; postmortem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4114800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verdict, feedback loop, RAG indexing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379976"/>
            <a:ext cx="411480" cy="329184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37997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3799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matrix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" y="4553712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 and governance dependencies per phase</a:t>
            </a:r>
            <a:endParaRPr lang="en-US" sz="9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9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11680"/>
            <a:ext cx="54864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component stack with 13 integration clients</a:t>
            </a:r>
            <a:endParaRPr lang="en-US" sz="1600" dirty="0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4-layer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diagrams/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548640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005840"/>
            <a:ext cx="2834640" cy="7315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72200" y="1078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+ WebSocket + CLI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1874520"/>
            <a:ext cx="2834640" cy="7315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1947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7220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PipelineOrchestrator + 7 BaseAgent subclasses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2743200"/>
            <a:ext cx="2834640" cy="7315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2816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LangChain tool-wrapped clients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3611880"/>
            <a:ext cx="2834640" cy="7315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72200" y="3685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Config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7220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(15 tables) + YAML manifest (26 refs)</a:t>
            </a:r>
            <a:endParaRPr lang="en-US" sz="9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task routing — cost-optimized model selection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8046720" cy="3291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71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COMPLEX_REASONING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1371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8,192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1371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1, 2, 5, 6, 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700784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7007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CODE_GENERATION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1700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7007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8,192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7007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029968"/>
            <a:ext cx="8046720" cy="3291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0299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2029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0299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0299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359152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0" y="2359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3591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2359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triage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688336"/>
            <a:ext cx="8046720" cy="3291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6883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0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26883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26883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tickets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fixed at 0.1 across all tasks. Azure OpenAI tenant constraint requires all LLM interactions to stay within AT&amp;T's Azure environment. BaseAgent handles lazy LLM initialization, 15-iteration ReAct loop, tenacity retry (3 attempts, 2s–30s exponential backoff), JSON output parsing against Pydantic models, and reasoning trace extraction.</a:t>
            </a:r>
            <a:endParaRPr lang="en-US" sz="10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9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11680"/>
            <a:ext cx="54864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 in strict sequence with HITL approval gates</a:t>
            </a:r>
            <a:endParaRPr lang="en-US" sz="1600" dirty="0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 — 7 phases with HITL gates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diagrams/pipeline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77240"/>
            <a:ext cx="530352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868680"/>
            <a:ext cx="411480" cy="38404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8686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analysis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17920" y="1051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→ RAG → Snowflake → Dynatrace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669280" y="1380744"/>
            <a:ext cx="411480" cy="38404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138074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13807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15636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model + 4 scenario types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69280" y="1892808"/>
            <a:ext cx="411480" cy="384048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189280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17920" y="1892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config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2075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validation + golden config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69280" y="2404872"/>
            <a:ext cx="411480" cy="38404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0" y="240487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24048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&amp; data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17920" y="25877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VuGen C + JMeter JMX + bulk data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669280" y="2916936"/>
            <a:ext cx="411480" cy="384048"/>
          </a:xfrm>
          <a:prstGeom prst="rect">
            <a:avLst/>
          </a:prstGeom>
          <a:solidFill>
            <a:srgbClr val="E5920A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0" y="291693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17920" y="29169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17920" y="30998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Stress → Endurance → Spike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69280" y="3429000"/>
            <a:ext cx="411480" cy="38404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28" name="Text 25"/>
          <p:cNvSpPr/>
          <p:nvPr/>
        </p:nvSpPr>
        <p:spPr>
          <a:xfrm>
            <a:off x="5669280" y="34290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17920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17920" y="36118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analysis + GO/NO-GO verdict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669280" y="3941064"/>
            <a:ext cx="411480" cy="384048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32" name="Text 29"/>
          <p:cNvSpPr/>
          <p:nvPr/>
        </p:nvSpPr>
        <p:spPr>
          <a:xfrm>
            <a:off x="5669280" y="39410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217920" y="39410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41239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RAG feedback loop</a:t>
            </a:r>
            <a:endParaRPr lang="en-US" sz="8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Story analysis: ReAct loop and data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diagrams/phase1_rea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914400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509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fetch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133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/api/2/issue/{key} with renderedFields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23560" y="1481328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5179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17007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Search, semantic ranking, 4K char truncation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23560" y="2048256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0848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incidents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22677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ServiceNow-filtered search for degradation history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2615184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6517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2834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10-run rolling avg + trend detection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3182112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32186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401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topology + 24hr p50/p90/p95 metrics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23560" y="3749040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760720" y="3785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60720" y="3968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TestCase objects with SLA, risk, harness, data reqs</a:t>
            </a:r>
            <a:endParaRPr lang="en-US" sz="8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Test planning: TestPlan output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diagrams/phase2_pl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914400"/>
            <a:ext cx="3200400" cy="65836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692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model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207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VUsers = TPS × (RT + think + pacing). Mix sums to 100%.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23560" y="1691640"/>
            <a:ext cx="3200400" cy="65836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746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60720" y="19842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(30m) / STRESS / ENDURANCE (1–4hr) / SPIKE (3×)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23560" y="2468880"/>
            <a:ext cx="3200400" cy="65836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523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spec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27614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namespaces, replicas, DB connections, MQ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23560" y="3246120"/>
            <a:ext cx="3200400" cy="65836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3300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60720" y="3538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Mandatory: TLG connection pool. Per-system risks.</a:t>
            </a:r>
            <a:endParaRPr lang="en-US" sz="9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Environment config: validation and golden config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diagrams/phase3_env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1206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914400"/>
            <a:ext cx="3200400" cy="822960"/>
          </a:xfrm>
          <a:prstGeom prst="rect">
            <a:avLst/>
          </a:prstGeom>
          <a:solidFill>
            <a:srgbClr val="FDE8E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692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QC detection rule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207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configs must point to PERF, not QC. Any qc2/qc3/QC3QM/qc-vpn pattern = CRITICAL mismatch.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23560" y="1920240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956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1956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entries, 22 apps, multi-lab support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23560" y="2414016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450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0" y="2450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AKS, App Gateway, Amdocs, Solace, HTTP health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2907792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config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58000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Snowflake GOLDEN_CONFIGS if all pass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3401568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34381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checks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0" y="3438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cron 06:00 UTC, daily after golden config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23560" y="3895344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760720" y="3931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58000" y="3931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ALERT_ONLY → SUGGEST_FIX → AUTO_REMEDIATE</a:t>
            </a:r>
            <a:endParaRPr lang="en-US" sz="8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Script generation, validation &amp; data provisioning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diagrams/phase4_scrip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868680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05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VuGen 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106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Action.c, globals.h, vuser_init.c, vuser_end.c with correlation + transactions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23560" y="1527048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JMX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ThreadGroup with ${__P()} properties, HTTPSamplerProxy, CSV Data Set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23560" y="2185416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221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+ structure check per harness (XML elements / C functions)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2843784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880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provisioning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Insert / API / Amdocs Tools / Manual. 100/batch rate limit.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3502152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3538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739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 about what to generate; helper functions build the code.</a:t>
            </a:r>
            <a:endParaRPr lang="en-US" sz="8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Execution sequence with real-time monitoring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diagrams/phase5_exe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86868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868680"/>
            <a:ext cx="54864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9052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11064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golden config. Drift = HALT.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623560" y="146304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463040"/>
            <a:ext cx="54864" cy="502920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13" name="Text 10"/>
          <p:cNvSpPr/>
          <p:nvPr/>
        </p:nvSpPr>
        <p:spPr>
          <a:xfrm>
            <a:off x="5806440" y="14996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(30 min)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06440" y="17007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p90 met, error &lt;1%. Stepped ramp.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23560" y="205740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23560" y="2057400"/>
            <a:ext cx="54864" cy="502920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17" name="Text 14"/>
          <p:cNvSpPr/>
          <p:nvPr/>
        </p:nvSpPr>
        <p:spPr>
          <a:xfrm>
            <a:off x="5806440" y="20939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06440" y="22951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Point + Breakpoint. Gap = headroom.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265176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23560" y="2651760"/>
            <a:ext cx="54864" cy="502920"/>
          </a:xfrm>
          <a:prstGeom prst="rect">
            <a:avLst/>
          </a:prstGeom>
          <a:solidFill>
            <a:srgbClr val="E5920A"/>
          </a:solidFill>
          <a:ln/>
        </p:spPr>
      </p:sp>
      <p:sp>
        <p:nvSpPr>
          <p:cNvPr id="21" name="Text 18"/>
          <p:cNvSpPr/>
          <p:nvPr/>
        </p:nvSpPr>
        <p:spPr>
          <a:xfrm>
            <a:off x="5806440" y="26883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06440" y="28895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hr. Memory, MQ depth, p90 drift, GC.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623560" y="324612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23560" y="3246120"/>
            <a:ext cx="54864" cy="502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5" name="Text 22"/>
          <p:cNvSpPr/>
          <p:nvPr/>
        </p:nvSpPr>
        <p:spPr>
          <a:xfrm>
            <a:off x="5806440" y="32826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06440" y="34838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burst if AKS. Scale-out &lt;2min.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23560" y="384048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623560" y="3840480"/>
            <a:ext cx="54864" cy="502920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29" name="Text 26"/>
          <p:cNvSpPr/>
          <p:nvPr/>
        </p:nvSpPr>
        <p:spPr>
          <a:xfrm>
            <a:off x="5806440" y="38770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06440" y="40782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+ Prometheus + ELK every 60s.</a:t>
            </a:r>
            <a:endParaRPr lang="en-US" sz="8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Results analysis: framework and verdict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diagrams/phase6_resul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914400"/>
            <a:ext cx="960120" cy="640080"/>
          </a:xfrm>
          <a:prstGeom prst="rect">
            <a:avLst/>
          </a:prstGeom>
          <a:solidFill>
            <a:srgbClr val="E1F5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23560" y="9326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23560" y="12618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SLAs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&gt;20% head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720840" y="914400"/>
            <a:ext cx="1051560" cy="64008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20840" y="9326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0840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7909560" y="914400"/>
            <a:ext cx="960120" cy="640080"/>
          </a:xfrm>
          <a:prstGeom prst="rect">
            <a:avLst/>
          </a:prstGeom>
          <a:solidFill>
            <a:srgbClr val="FDE8E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09560" y="9326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09560" y="12618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 head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760720" y="1783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SLA compliance — deviation per transaction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60720" y="2075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Baseline comparison — IMPROVING / STABLE / DEGRADING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6072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Peak/breakpoint — headroom margin calculation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60720" y="2660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Stability drift — p90, memory, MQ, GC trends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60720" y="2953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Anomaly summary — sorted, mapped to Jira defects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60720" y="3337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Word → SharePoint → Snowflake → Jira defects</a:t>
            </a:r>
            <a:endParaRPr lang="en-US" sz="8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Postmortem analysis and feedback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diagrams/phase7_postmorte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868680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05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cataloging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106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categories: env, data, tooling, process, comm, technical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23560" y="1527048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analysis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 target &gt;80%. Hours lost per category.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23560" y="2185416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221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Structured: title, context, lesson, recommendation, tags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2843784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880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RAG for recurring issues across prior cycles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3502152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3538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archival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739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(structured) + RAG (searchable). Closes the loop.</a:t>
            </a:r>
            <a:endParaRPr lang="en-US" sz="8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9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11680"/>
            <a:ext cx="54864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 and governance dependencies per phase</a:t>
            </a:r>
            <a:endParaRPr lang="en-US" sz="1600" dirty="0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matrix — API, infrastructure &amp; governance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7443216" cy="259384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Snow-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flake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Dyna-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Prome-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Share-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Gov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CSTEM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Story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Plan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Env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Scripts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Exec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 Results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 Postmort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520440"/>
            <a:ext cx="8686800" cy="32004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</a:rPr>
              <a:t> C </a:t>
            </a:r>
            <a:r>
              <a:rPr lang="en-US" sz="800" dirty="0">
                <a:solidFill>
                  <a:srgbClr val="5A6578"/>
                </a:solidFill>
              </a:rPr>
              <a:t> Critical path   </a:t>
            </a:r>
            <a:r>
              <a:rPr lang="en-US" sz="900" b="1" dirty="0">
                <a:solidFill>
                  <a:srgbClr val="0369A1"/>
                </a:solidFill>
              </a:rPr>
              <a:t> R </a:t>
            </a:r>
            <a:r>
              <a:rPr lang="en-US" sz="800" dirty="0">
                <a:solidFill>
                  <a:srgbClr val="5A6578"/>
                </a:solidFill>
              </a:rPr>
              <a:t> Required   </a:t>
            </a:r>
            <a:r>
              <a:rPr lang="en-US" sz="900" b="1" dirty="0">
                <a:solidFill>
                  <a:srgbClr val="92400E"/>
                </a:solidFill>
              </a:rPr>
              <a:t> O </a:t>
            </a:r>
            <a:r>
              <a:rPr lang="en-US" sz="800" dirty="0">
                <a:solidFill>
                  <a:srgbClr val="5A6578"/>
                </a:solidFill>
              </a:rPr>
              <a:t> Optional / conditional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3977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</a:rPr>
              <a:t>Phase 5 is the dependency bottleneck </a:t>
            </a:r>
            <a:r>
              <a:rPr lang="en-US" sz="900" dirty="0">
                <a:solidFill>
                  <a:srgbClr val="5A6578"/>
                </a:solidFill>
              </a:rPr>
              <a:t>— 6 critical-path deps. </a:t>
            </a:r>
            <a:r>
              <a:rPr lang="en-US" sz="900" b="1" dirty="0">
                <a:solidFill>
                  <a:srgbClr val="1B3A5C"/>
                </a:solidFill>
              </a:rPr>
              <a:t>RAG write access is Phase 7 only. </a:t>
            </a:r>
            <a:r>
              <a:rPr lang="en-US" sz="900" dirty="0">
                <a:solidFill>
                  <a:srgbClr val="5A6578"/>
                </a:solidFill>
              </a:rPr>
              <a:t>Phase 3 owns infra validation (AKS, App GW, Solace). </a:t>
            </a:r>
            <a:r>
              <a:rPr lang="en-US" sz="900" b="1" dirty="0">
                <a:solidFill>
                  <a:srgbClr val="1B3A5C"/>
                </a:solidFill>
              </a:rPr>
              <a:t>CSTEM coordination </a:t>
            </a:r>
            <a:r>
              <a:rPr lang="en-US" sz="900" dirty="0">
                <a:solidFill>
                  <a:srgbClr val="5A6578"/>
                </a:solidFill>
              </a:rPr>
              <a:t>is a human dependency — often the longest wall-clock delay.</a:t>
            </a:r>
            <a:endParaRPr lang="en-US" sz="900" dirty="0"/>
          </a:p>
        </p:txBody>
      </p:sp>
      <p:sp>
        <p:nvSpPr>
          <p:cNvPr id="903" name="ATTTopLine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9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Agentic Pipeline v2.0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828800" cy="0"/>
          </a:xfrm>
          <a:prstGeom prst="line">
            <a:avLst/>
          </a:prstGeom>
          <a:noFill/>
          <a:ln w="25400">
            <a:solidFill>
              <a:srgbClr val="009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deployment: end of Q3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CTx CQE Performance Engineering &amp; Cybersecurity
</a:t>
            </a:r>
            <a:r>
              <a:rPr lang="en-US" sz="1200" b="1" dirty="0">
                <a:solidFill>
                  <a:srgbClr val="009FDB"/>
                </a:solidFill>
              </a:rPr>
              <a:t>AT&amp;T</a:t>
            </a:r>
            <a:endParaRPr lang="en-US" sz="1200" dirty="0"/>
          </a:p>
        </p:txBody>
      </p:sp>
      <p:sp>
        <p:nvSpPr>
          <p:cNvPr id="900" name="ATTFooter"/>
          <p:cNvSpPr/>
          <p:nvPr/>
        </p:nvSpPr>
        <p:spPr>
          <a:xfrm>
            <a:off x="502920" y="484632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Agentic Workflow for Performance Engineering / March 2026 / © 2026 AT&amp;T Intellectual Property - AT&amp;T Proprietary (Internal Use Only)</a:t>
            </a:r>
          </a:p>
        </p:txBody>
      </p:sp>
      <p:pic>
        <p:nvPicPr>
          <p:cNvPr id="901" name="ATT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709160"/>
            <a:ext cx="777240" cy="384048"/>
          </a:xfrm>
          <a:prstGeom prst="rect">
            <a:avLst/>
          </a:prstGeom>
        </p:spPr>
      </p:pic>
      <p:sp>
        <p:nvSpPr>
          <p:cNvPr id="902" name="ATTPageNum"/>
          <p:cNvSpPr/>
          <p:nvPr/>
        </p:nvSpPr>
        <p:spPr>
          <a:xfrm>
            <a:off x="18288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1890</Words>
  <Application>Microsoft Macintosh PowerPoint</Application>
  <PresentationFormat>On-screen Show (16:9)</PresentationFormat>
  <Paragraphs>330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Agentic Pipeline v2.0 — Agentic HITL Pipeline</dc:title>
  <dc:subject>PptxGenJS Presentation</dc:subject>
  <dc:creator>CTx CQE Performance Engineering</dc:creator>
  <cp:lastModifiedBy>JMC Atlanta</cp:lastModifiedBy>
  <cp:revision>1</cp:revision>
  <dcterms:created xsi:type="dcterms:W3CDTF">2026-03-25T22:14:17Z</dcterms:created>
  <dcterms:modified xsi:type="dcterms:W3CDTF">2026-03-26T02:01:30Z</dcterms:modified>
</cp:coreProperties>
</file>